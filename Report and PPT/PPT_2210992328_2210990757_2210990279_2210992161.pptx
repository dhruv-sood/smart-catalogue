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>
  <p:sldMasterIdLst>
    <p:sldMasterId id="2147483648" r:id="rId4"/>
  </p:sldMasterIdLst>
  <p:notesMasterIdLst>
    <p:notesMasterId r:id="rId13"/>
  </p:notesMasterIdLst>
  <p:handoutMasterIdLst>
    <p:handoutMasterId r:id="rId14"/>
  </p:handoutMasterIdLst>
  <p:sldIdLst>
    <p:sldId id="256" r:id="rId5"/>
    <p:sldId id="257" r:id="rId6"/>
    <p:sldId id="269" r:id="rId7"/>
    <p:sldId id="270" r:id="rId8"/>
    <p:sldId id="272" r:id="rId9"/>
    <p:sldId id="273" r:id="rId10"/>
    <p:sldId id="271" r:id="rId11"/>
    <p:sldId id="268" r:id="rId12"/>
  </p:sldIdLst>
  <p:sldSz cx="9144000" cy="6858000" type="screen4x3"/>
  <p:notesSz cx="7559675" cy="106918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AB2E2"/>
    <a:srgbClr val="2A66AC"/>
    <a:srgbClr val="75A4DD"/>
    <a:srgbClr val="2E6CB8"/>
    <a:srgbClr val="2A65AC"/>
    <a:srgbClr val="255997"/>
    <a:srgbClr val="3379CD"/>
    <a:srgbClr val="558ED5"/>
    <a:srgbClr val="78A6DE"/>
    <a:srgbClr val="9DBEE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4" d="100"/>
          <a:sy n="84" d="100"/>
        </p:scale>
        <p:origin x="1426" y="6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notesMaster" Target="notesMasters/notesMaster1.xml"/><Relationship Id="rId18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presProps" Target="presProps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F607C9A-EDB5-4C0A-BCFE-81AAF6133E68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4F00B0C-2831-4624-A5D3-43F42D30BA7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281488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5D2B5EB-424D-4C39-A8AB-65F1D7895EF3}" type="datetimeFigureOut">
              <a:rPr lang="en-US" smtClean="0"/>
              <a:pPr/>
              <a:t>5/21/2026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334ABA9-0C2F-480A-B554-A457296C39B5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en-US"/>
              <a:t>Name of the faculty [Group: G00] [Sem:2nd]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6F3BA01-5457-4975-8BF5-D0EAD49D534B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281488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4199376-55CE-4213-A97D-9D70929AC50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3002274"/>
      </p:ext>
    </p:extLst>
  </p:cSld>
  <p:clrMap bg1="lt1" tx1="dk1" bg2="lt2" tx2="dk2" accent1="accent1" accent2="accent2" accent3="accent3" accent4="accent4" accent5="accent5" accent6="accent6" hlink="hlink" folHlink="folHlink"/>
  <p:hf hd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281488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88BC1CF-45D5-4DEE-AAB8-8C5341844FC9}" type="datetimeFigureOut">
              <a:rPr lang="en-US" smtClean="0"/>
              <a:pPr/>
              <a:t>5/21/2026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4775" y="1336675"/>
            <a:ext cx="4810125" cy="36083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55650" y="5145088"/>
            <a:ext cx="6048375" cy="42100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en-US"/>
              <a:t>Name of the faculty [Group: G00] [Sem:2nd]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281488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5A7523A-12D4-4E0F-9409-B3F845B483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8122221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5A7523A-12D4-4E0F-9409-B3F845B48333}" type="slidenum">
              <a:rPr lang="en-US" smtClean="0"/>
              <a:pPr/>
              <a:t>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99BB95-9755-4BC6-8051-C2B8CF54F2A1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Name of the faculty [Group: G00] [Sem:2nd]</a:t>
            </a:r>
          </a:p>
        </p:txBody>
      </p:sp>
    </p:spTree>
    <p:extLst>
      <p:ext uri="{BB962C8B-B14F-4D97-AF65-F5344CB8AC3E}">
        <p14:creationId xmlns:p14="http://schemas.microsoft.com/office/powerpoint/2010/main" val="425487472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5486040" cy="9140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3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3200" b="0" strike="noStrike" spc="-1" dirty="0">
              <a:latin typeface="Arial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5486040" cy="9140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3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5486040" cy="9140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3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6" name="PlaceHolder 3"/>
          <p:cNvSpPr>
            <a:spLocks noGrp="1"/>
          </p:cNvSpPr>
          <p:nvPr>
            <p:ph type="body"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5486040" cy="9140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30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subTitle"/>
          </p:nvPr>
        </p:nvSpPr>
        <p:spPr>
          <a:xfrm>
            <a:off x="0" y="0"/>
            <a:ext cx="5486040" cy="423828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5486040" cy="9140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3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 type="body"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 type="body"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5486040" cy="9140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3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5" name="PlaceHolder 3"/>
          <p:cNvSpPr>
            <a:spLocks noGrp="1"/>
          </p:cNvSpPr>
          <p:nvPr>
            <p:ph type="body"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6" name="PlaceHolder 4"/>
          <p:cNvSpPr>
            <a:spLocks noGrp="1"/>
          </p:cNvSpPr>
          <p:nvPr>
            <p:ph type="body"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5486040" cy="9140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3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9" name="PlaceHolder 3"/>
          <p:cNvSpPr>
            <a:spLocks noGrp="1"/>
          </p:cNvSpPr>
          <p:nvPr>
            <p:ph type="body"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0" name="PlaceHolder 4"/>
          <p:cNvSpPr>
            <a:spLocks noGrp="1"/>
          </p:cNvSpPr>
          <p:nvPr>
            <p:ph type="body"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5486040" cy="9140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3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body"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5486040" cy="9140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3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body"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body"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body"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5486040" cy="9140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3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body"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body"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4" name="PlaceHolder 6"/>
          <p:cNvSpPr>
            <a:spLocks noGrp="1"/>
          </p:cNvSpPr>
          <p:nvPr>
            <p:ph type="body"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5" name="PlaceHolder 7"/>
          <p:cNvSpPr>
            <a:spLocks noGrp="1"/>
          </p:cNvSpPr>
          <p:nvPr>
            <p:ph type="body"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2.jpe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CustomShape 1"/>
          <p:cNvSpPr/>
          <p:nvPr/>
        </p:nvSpPr>
        <p:spPr>
          <a:xfrm>
            <a:off x="0" y="0"/>
            <a:ext cx="9143640" cy="837720"/>
          </a:xfrm>
          <a:prstGeom prst="rect">
            <a:avLst/>
          </a:prstGeom>
          <a:solidFill>
            <a:srgbClr val="FF3300"/>
          </a:solidFill>
          <a:ln w="936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21" name="CustomShape 2"/>
          <p:cNvSpPr/>
          <p:nvPr/>
        </p:nvSpPr>
        <p:spPr>
          <a:xfrm flipV="1">
            <a:off x="0" y="6704640"/>
            <a:ext cx="9143640" cy="197640"/>
          </a:xfrm>
          <a:prstGeom prst="rect">
            <a:avLst/>
          </a:prstGeom>
          <a:solidFill>
            <a:srgbClr val="FF0000"/>
          </a:solidFill>
          <a:ln w="9360">
            <a:noFill/>
          </a:ln>
          <a:scene3d>
            <a:camera prst="orthographicFront"/>
            <a:lightRig rig="threePt" dir="t"/>
          </a:scene3d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pic>
        <p:nvPicPr>
          <p:cNvPr id="2" name="Picture 10" descr="LOGO.gif"/>
          <p:cNvPicPr/>
          <p:nvPr/>
        </p:nvPicPr>
        <p:blipFill>
          <a:blip r:embed="rId14"/>
          <a:srcRect b="10718"/>
          <a:stretch/>
        </p:blipFill>
        <p:spPr>
          <a:xfrm>
            <a:off x="6553080" y="228600"/>
            <a:ext cx="2057040" cy="634680"/>
          </a:xfrm>
          <a:prstGeom prst="rect">
            <a:avLst/>
          </a:prstGeom>
          <a:ln w="9360">
            <a:noFill/>
          </a:ln>
        </p:spPr>
      </p:pic>
      <p:pic>
        <p:nvPicPr>
          <p:cNvPr id="3" name="Picture 10" descr="LOGO.gif"/>
          <p:cNvPicPr/>
          <p:nvPr/>
        </p:nvPicPr>
        <p:blipFill>
          <a:blip r:embed="rId14"/>
          <a:srcRect b="10718"/>
          <a:stretch/>
        </p:blipFill>
        <p:spPr>
          <a:xfrm>
            <a:off x="6553080" y="228600"/>
            <a:ext cx="2057040" cy="634680"/>
          </a:xfrm>
          <a:prstGeom prst="rect">
            <a:avLst/>
          </a:prstGeom>
          <a:ln w="9360">
            <a:noFill/>
          </a:ln>
        </p:spPr>
      </p:pic>
      <p:grpSp>
        <p:nvGrpSpPr>
          <p:cNvPr id="4" name="Group 3"/>
          <p:cNvGrpSpPr/>
          <p:nvPr/>
        </p:nvGrpSpPr>
        <p:grpSpPr>
          <a:xfrm>
            <a:off x="6146640" y="0"/>
            <a:ext cx="2997000" cy="875880"/>
            <a:chOff x="6146640" y="0"/>
            <a:chExt cx="2997000" cy="875880"/>
          </a:xfrm>
        </p:grpSpPr>
        <p:sp>
          <p:nvSpPr>
            <p:cNvPr id="5" name="CustomShape 4"/>
            <p:cNvSpPr/>
            <p:nvPr/>
          </p:nvSpPr>
          <p:spPr>
            <a:xfrm>
              <a:off x="6146640" y="0"/>
              <a:ext cx="2997000" cy="837720"/>
            </a:xfrm>
            <a:prstGeom prst="rect">
              <a:avLst/>
            </a:prstGeom>
            <a:solidFill>
              <a:srgbClr val="FF3300"/>
            </a:solidFill>
            <a:ln w="936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pic>
          <p:nvPicPr>
            <p:cNvPr id="6" name="Picture 9" descr="LOGO.gif"/>
            <p:cNvPicPr/>
            <p:nvPr/>
          </p:nvPicPr>
          <p:blipFill>
            <a:blip r:embed="rId14"/>
            <a:srcRect b="10718"/>
            <a:stretch/>
          </p:blipFill>
          <p:spPr>
            <a:xfrm>
              <a:off x="6553080" y="228600"/>
              <a:ext cx="2057040" cy="634680"/>
            </a:xfrm>
            <a:prstGeom prst="rect">
              <a:avLst/>
            </a:prstGeom>
            <a:ln w="9360">
              <a:noFill/>
            </a:ln>
          </p:spPr>
        </p:pic>
        <p:sp>
          <p:nvSpPr>
            <p:cNvPr id="7" name="CustomShape 5"/>
            <p:cNvSpPr/>
            <p:nvPr/>
          </p:nvSpPr>
          <p:spPr>
            <a:xfrm>
              <a:off x="6527880" y="190440"/>
              <a:ext cx="2076120" cy="68544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</p:grpSp>
      <p:pic>
        <p:nvPicPr>
          <p:cNvPr id="8" name="Picture 15" descr="logo.jpg"/>
          <p:cNvPicPr/>
          <p:nvPr/>
        </p:nvPicPr>
        <p:blipFill>
          <a:blip r:embed="rId15"/>
          <a:stretch/>
        </p:blipFill>
        <p:spPr>
          <a:xfrm>
            <a:off x="6553080" y="228600"/>
            <a:ext cx="1920600" cy="609120"/>
          </a:xfrm>
          <a:prstGeom prst="rect">
            <a:avLst/>
          </a:prstGeom>
          <a:ln w="9360">
            <a:noFill/>
          </a:ln>
        </p:spPr>
      </p:pic>
      <p:pic>
        <p:nvPicPr>
          <p:cNvPr id="9" name="Picture 10" descr="LOGO.gif"/>
          <p:cNvPicPr/>
          <p:nvPr/>
        </p:nvPicPr>
        <p:blipFill>
          <a:blip r:embed="rId14"/>
          <a:srcRect b="10718"/>
          <a:stretch/>
        </p:blipFill>
        <p:spPr>
          <a:xfrm>
            <a:off x="6553080" y="228600"/>
            <a:ext cx="2057040" cy="634680"/>
          </a:xfrm>
          <a:prstGeom prst="rect">
            <a:avLst/>
          </a:prstGeom>
          <a:ln w="9360">
            <a:noFill/>
          </a:ln>
        </p:spPr>
      </p:pic>
      <p:grpSp>
        <p:nvGrpSpPr>
          <p:cNvPr id="10" name="Group 6"/>
          <p:cNvGrpSpPr/>
          <p:nvPr/>
        </p:nvGrpSpPr>
        <p:grpSpPr>
          <a:xfrm>
            <a:off x="6146640" y="0"/>
            <a:ext cx="2997000" cy="875880"/>
            <a:chOff x="6146640" y="0"/>
            <a:chExt cx="2997000" cy="875880"/>
          </a:xfrm>
        </p:grpSpPr>
        <p:sp>
          <p:nvSpPr>
            <p:cNvPr id="11" name="CustomShape 7"/>
            <p:cNvSpPr/>
            <p:nvPr/>
          </p:nvSpPr>
          <p:spPr>
            <a:xfrm>
              <a:off x="6146640" y="0"/>
              <a:ext cx="2997000" cy="837720"/>
            </a:xfrm>
            <a:prstGeom prst="rect">
              <a:avLst/>
            </a:prstGeom>
            <a:solidFill>
              <a:srgbClr val="FF3300"/>
            </a:solidFill>
            <a:ln w="936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pic>
          <p:nvPicPr>
            <p:cNvPr id="12" name="Picture 9" descr="LOGO.gif"/>
            <p:cNvPicPr/>
            <p:nvPr/>
          </p:nvPicPr>
          <p:blipFill>
            <a:blip r:embed="rId14"/>
            <a:srcRect b="10718"/>
            <a:stretch/>
          </p:blipFill>
          <p:spPr>
            <a:xfrm>
              <a:off x="6553080" y="228600"/>
              <a:ext cx="2057040" cy="634680"/>
            </a:xfrm>
            <a:prstGeom prst="rect">
              <a:avLst/>
            </a:prstGeom>
            <a:ln w="9360">
              <a:noFill/>
            </a:ln>
          </p:spPr>
        </p:pic>
        <p:sp>
          <p:nvSpPr>
            <p:cNvPr id="13" name="CustomShape 8"/>
            <p:cNvSpPr/>
            <p:nvPr/>
          </p:nvSpPr>
          <p:spPr>
            <a:xfrm>
              <a:off x="6527880" y="190440"/>
              <a:ext cx="2076120" cy="68544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</p:grpSp>
      <p:pic>
        <p:nvPicPr>
          <p:cNvPr id="14" name="Picture 15" descr="logo.jpg"/>
          <p:cNvPicPr/>
          <p:nvPr/>
        </p:nvPicPr>
        <p:blipFill>
          <a:blip r:embed="rId15"/>
          <a:stretch/>
        </p:blipFill>
        <p:spPr>
          <a:xfrm>
            <a:off x="6553080" y="228600"/>
            <a:ext cx="1920600" cy="609120"/>
          </a:xfrm>
          <a:prstGeom prst="rect">
            <a:avLst/>
          </a:prstGeom>
          <a:ln w="9360">
            <a:noFill/>
          </a:ln>
        </p:spPr>
      </p:pic>
      <p:sp>
        <p:nvSpPr>
          <p:cNvPr id="15" name="PlaceHolder 9"/>
          <p:cNvSpPr>
            <a:spLocks noGrp="1"/>
          </p:cNvSpPr>
          <p:nvPr>
            <p:ph type="title"/>
          </p:nvPr>
        </p:nvSpPr>
        <p:spPr>
          <a:xfrm>
            <a:off x="0" y="0"/>
            <a:ext cx="6476760" cy="837720"/>
          </a:xfrm>
          <a:prstGeom prst="rect">
            <a:avLst/>
          </a:prstGeom>
        </p:spPr>
        <p:txBody>
          <a:bodyPr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3000" b="0" strike="noStrike" spc="-1" dirty="0">
                <a:solidFill>
                  <a:srgbClr val="000000"/>
                </a:solidFill>
                <a:latin typeface="Calibri"/>
                <a:ea typeface="MS PGothic"/>
              </a:rPr>
              <a:t>Click to edit Master title style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10"/>
          <p:cNvSpPr>
            <a:spLocks noGrp="1"/>
          </p:cNvSpPr>
          <p:nvPr>
            <p:ph type="body"/>
          </p:nvPr>
        </p:nvSpPr>
        <p:spPr>
          <a:xfrm>
            <a:off x="457200" y="1371600"/>
            <a:ext cx="8229240" cy="4525560"/>
          </a:xfrm>
          <a:prstGeom prst="rect">
            <a:avLst/>
          </a:prstGeom>
        </p:spPr>
        <p:txBody>
          <a:bodyPr>
            <a:noAutofit/>
          </a:bodyPr>
          <a:lstStyle/>
          <a:p>
            <a:pPr marL="343080" indent="-34272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strike="noStrike" spc="-1" dirty="0">
                <a:solidFill>
                  <a:srgbClr val="000000"/>
                </a:solidFill>
                <a:latin typeface="Calibri"/>
                <a:ea typeface="MS PGothic"/>
              </a:rPr>
              <a:t>Click to edit Master text styles</a:t>
            </a:r>
            <a:endParaRPr lang="en-US" sz="3200" b="0" strike="noStrike" spc="-1" dirty="0">
              <a:solidFill>
                <a:srgbClr val="000000"/>
              </a:solidFill>
              <a:latin typeface="Calibri"/>
            </a:endParaRPr>
          </a:p>
          <a:p>
            <a:pPr marL="743040" lvl="1" indent="-28548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strike="noStrike" spc="-1" dirty="0">
                <a:solidFill>
                  <a:srgbClr val="000000"/>
                </a:solidFill>
                <a:latin typeface="Calibri"/>
                <a:ea typeface="MS PGothic"/>
              </a:rPr>
              <a:t>Second level</a:t>
            </a:r>
            <a:endParaRPr lang="en-US" sz="2800" b="0" strike="noStrike" spc="-1" dirty="0">
              <a:solidFill>
                <a:srgbClr val="000000"/>
              </a:solidFill>
              <a:latin typeface="Calibri"/>
            </a:endParaRPr>
          </a:p>
          <a:p>
            <a:pPr marL="1143000" lvl="2" indent="-22824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strike="noStrike" spc="-1" dirty="0">
                <a:solidFill>
                  <a:srgbClr val="000000"/>
                </a:solidFill>
                <a:latin typeface="Calibri"/>
                <a:ea typeface="MS PGothic"/>
              </a:rPr>
              <a:t>Third level</a:t>
            </a:r>
            <a:endParaRPr lang="en-US" sz="2400" b="0" strike="noStrike" spc="-1" dirty="0">
              <a:solidFill>
                <a:srgbClr val="000000"/>
              </a:solidFill>
              <a:latin typeface="Calibri"/>
            </a:endParaRPr>
          </a:p>
          <a:p>
            <a:pPr marL="1600200" lvl="3" indent="-22824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strike="noStrike" spc="-1" dirty="0">
                <a:solidFill>
                  <a:srgbClr val="000000"/>
                </a:solidFill>
                <a:latin typeface="Calibri"/>
                <a:ea typeface="MS PGothic"/>
              </a:rPr>
              <a:t>Fourth level</a:t>
            </a:r>
            <a:endParaRPr lang="en-US" sz="2000" b="0" strike="noStrike" spc="-1" dirty="0">
              <a:solidFill>
                <a:srgbClr val="000000"/>
              </a:solidFill>
              <a:latin typeface="Calibri"/>
            </a:endParaRPr>
          </a:p>
          <a:p>
            <a:pPr marL="2057400" lvl="4" indent="-22824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strike="noStrike" spc="-1" dirty="0">
                <a:solidFill>
                  <a:srgbClr val="000000"/>
                </a:solidFill>
                <a:latin typeface="Calibri"/>
                <a:ea typeface="MS PGothic"/>
              </a:rPr>
              <a:t>Fifth level</a:t>
            </a:r>
            <a:endParaRPr lang="en-US" sz="2000" b="0" strike="noStrike" spc="-1" dirty="0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7" name="PlaceHolder 11"/>
          <p:cNvSpPr>
            <a:spLocks noGrp="1"/>
          </p:cNvSpPr>
          <p:nvPr>
            <p:ph type="dt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</p:spPr>
        <p:txBody>
          <a:bodyPr anchor="ctr">
            <a:noAutofit/>
          </a:bodyPr>
          <a:lstStyle/>
          <a:p>
            <a:pPr>
              <a:lnSpc>
                <a:spcPct val="100000"/>
              </a:lnSpc>
            </a:pPr>
            <a:endParaRPr lang="en-GB" sz="1200" b="0" strike="noStrike" spc="-1">
              <a:latin typeface="Times New Roman"/>
            </a:endParaRPr>
          </a:p>
        </p:txBody>
      </p:sp>
      <p:sp>
        <p:nvSpPr>
          <p:cNvPr id="18" name="PlaceHolder 12"/>
          <p:cNvSpPr>
            <a:spLocks noGrp="1"/>
          </p:cNvSpPr>
          <p:nvPr>
            <p:ph type="ftr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</p:spPr>
        <p:txBody>
          <a:bodyPr anchor="ctr">
            <a:noAutofit/>
          </a:bodyPr>
          <a:lstStyle/>
          <a:p>
            <a:r>
              <a:rPr lang="en-GB" sz="2400" b="0" strike="noStrike" spc="-1">
                <a:latin typeface="Times New Roman"/>
              </a:rPr>
              <a:t>Name</a:t>
            </a:r>
          </a:p>
        </p:txBody>
      </p:sp>
      <p:sp>
        <p:nvSpPr>
          <p:cNvPr id="19" name="PlaceHolder 13"/>
          <p:cNvSpPr>
            <a:spLocks noGrp="1"/>
          </p:cNvSpPr>
          <p:nvPr>
            <p:ph type="sldNum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</p:spPr>
        <p:txBody>
          <a:bodyPr anchor="ctr">
            <a:noAutofit/>
          </a:bodyPr>
          <a:lstStyle/>
          <a:p>
            <a:pPr algn="r">
              <a:lnSpc>
                <a:spcPct val="100000"/>
              </a:lnSpc>
            </a:pPr>
            <a:fld id="{1CFDC92E-FF5D-4613-8499-B15BC16E50D9}" type="slidenum">
              <a:rPr lang="en-US" sz="1200" b="0" strike="noStrike" spc="-1">
                <a:solidFill>
                  <a:srgbClr val="898989"/>
                </a:solidFill>
                <a:latin typeface="Calibri"/>
                <a:ea typeface="MS PGothic"/>
              </a:rPr>
              <a:pPr algn="r">
                <a:lnSpc>
                  <a:spcPct val="100000"/>
                </a:lnSpc>
              </a:pPr>
              <a:t>‹#›</a:t>
            </a:fld>
            <a:endParaRPr lang="en-GB" sz="1200" b="0" strike="noStrike" spc="-1"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Shape 1"/>
          <p:cNvSpPr txBox="1"/>
          <p:nvPr/>
        </p:nvSpPr>
        <p:spPr>
          <a:xfrm>
            <a:off x="0" y="840631"/>
            <a:ext cx="9144000" cy="5377289"/>
          </a:xfrm>
          <a:prstGeom prst="rect">
            <a:avLst/>
          </a:prstGeom>
          <a:noFill/>
          <a:ln w="9360">
            <a:noFill/>
          </a:ln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spcBef>
                <a:spcPts val="400"/>
              </a:spcBef>
            </a:pPr>
            <a:r>
              <a:rPr lang="en-IN" b="1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Project Presentation of </a:t>
            </a:r>
            <a:r>
              <a:rPr lang="en-US" b="1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CO-OP Project at Industry (Module-2) </a:t>
            </a:r>
            <a:r>
              <a:rPr lang="en-IN" b="1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(22CS421)</a:t>
            </a:r>
          </a:p>
          <a:p>
            <a:pPr algn="ctr">
              <a:lnSpc>
                <a:spcPct val="100000"/>
              </a:lnSpc>
              <a:spcBef>
                <a:spcPts val="400"/>
              </a:spcBef>
            </a:pPr>
            <a:r>
              <a:rPr lang="en-US" sz="2000" spc="-1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On</a:t>
            </a:r>
          </a:p>
          <a:p>
            <a:pPr algn="ctr">
              <a:lnSpc>
                <a:spcPct val="100000"/>
              </a:lnSpc>
              <a:spcBef>
                <a:spcPts val="400"/>
              </a:spcBef>
            </a:pPr>
            <a:r>
              <a:rPr lang="en-US" sz="36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Smart AI Cataloging Application (Team-32)</a:t>
            </a:r>
            <a:br>
              <a:rPr lang="en-US" sz="3600" b="0" strike="noStrike" spc="-1" dirty="0">
                <a:solidFill>
                  <a:srgbClr val="000000"/>
                </a:solidFill>
                <a:latin typeface="Times New Roman" panose="02020603050405020304" pitchFamily="18" charset="0"/>
                <a:ea typeface="MS PGothic"/>
                <a:cs typeface="Times New Roman" panose="02020603050405020304" pitchFamily="18" charset="0"/>
              </a:rPr>
            </a:br>
            <a:endParaRPr lang="en-US" sz="3600" spc="-1" dirty="0">
              <a:solidFill>
                <a:srgbClr val="000000"/>
              </a:solidFill>
              <a:latin typeface="Times New Roman" panose="02020603050405020304" pitchFamily="18" charset="0"/>
              <a:ea typeface="MS PGothic"/>
              <a:cs typeface="Times New Roman" panose="02020603050405020304" pitchFamily="18" charset="0"/>
            </a:endParaRPr>
          </a:p>
          <a:p>
            <a:pPr algn="ctr">
              <a:lnSpc>
                <a:spcPct val="100000"/>
              </a:lnSpc>
              <a:spcBef>
                <a:spcPts val="400"/>
              </a:spcBef>
            </a:pPr>
            <a:endParaRPr lang="en-US" sz="2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MS PGothic"/>
              <a:cs typeface="Times New Roman" panose="02020603050405020304" pitchFamily="18" charset="0"/>
            </a:endParaRPr>
          </a:p>
          <a:p>
            <a:pPr algn="ctr">
              <a:lnSpc>
                <a:spcPct val="100000"/>
              </a:lnSpc>
              <a:spcBef>
                <a:spcPts val="400"/>
              </a:spcBef>
            </a:pPr>
            <a:endParaRPr lang="en-US" sz="2000" spc="-1" dirty="0">
              <a:solidFill>
                <a:srgbClr val="000000"/>
              </a:solidFill>
              <a:latin typeface="Times New Roman" panose="02020603050405020304" pitchFamily="18" charset="0"/>
              <a:ea typeface="MS PGothic"/>
              <a:cs typeface="Times New Roman" panose="02020603050405020304" pitchFamily="18" charset="0"/>
            </a:endParaRPr>
          </a:p>
          <a:p>
            <a:pPr algn="ctr">
              <a:lnSpc>
                <a:spcPct val="100000"/>
              </a:lnSpc>
              <a:spcBef>
                <a:spcPts val="400"/>
              </a:spcBef>
            </a:pPr>
            <a:endParaRPr lang="en-US" sz="2000" spc="-1" dirty="0">
              <a:solidFill>
                <a:srgbClr val="000000"/>
              </a:solidFill>
              <a:latin typeface="Times New Roman" panose="02020603050405020304" pitchFamily="18" charset="0"/>
              <a:ea typeface="MS PGothic"/>
              <a:cs typeface="Times New Roman" panose="02020603050405020304" pitchFamily="18" charset="0"/>
            </a:endParaRPr>
          </a:p>
          <a:p>
            <a:pPr algn="ctr">
              <a:lnSpc>
                <a:spcPct val="100000"/>
              </a:lnSpc>
              <a:spcBef>
                <a:spcPts val="400"/>
              </a:spcBef>
            </a:pPr>
            <a:endParaRPr lang="en-US" sz="2000" spc="-1" dirty="0">
              <a:solidFill>
                <a:srgbClr val="000000"/>
              </a:solidFill>
              <a:latin typeface="Times New Roman" panose="02020603050405020304" pitchFamily="18" charset="0"/>
              <a:ea typeface="MS PGothic"/>
              <a:cs typeface="Times New Roman" panose="02020603050405020304" pitchFamily="18" charset="0"/>
            </a:endParaRPr>
          </a:p>
          <a:p>
            <a:pPr algn="ctr">
              <a:lnSpc>
                <a:spcPct val="100000"/>
              </a:lnSpc>
              <a:spcBef>
                <a:spcPts val="400"/>
              </a:spcBef>
            </a:pPr>
            <a:endParaRPr lang="en-US" sz="2000" spc="-1" dirty="0">
              <a:solidFill>
                <a:srgbClr val="000000"/>
              </a:solidFill>
              <a:latin typeface="Times New Roman" panose="02020603050405020304" pitchFamily="18" charset="0"/>
              <a:ea typeface="MS PGothic"/>
              <a:cs typeface="Times New Roman" panose="02020603050405020304" pitchFamily="18" charset="0"/>
            </a:endParaRPr>
          </a:p>
          <a:p>
            <a:pPr algn="ctr">
              <a:lnSpc>
                <a:spcPct val="100000"/>
              </a:lnSpc>
              <a:spcBef>
                <a:spcPts val="400"/>
              </a:spcBef>
            </a:pPr>
            <a:endParaRPr lang="en-US" sz="2000" spc="-1" dirty="0">
              <a:solidFill>
                <a:srgbClr val="000000"/>
              </a:solidFill>
              <a:latin typeface="Times New Roman" panose="02020603050405020304" pitchFamily="18" charset="0"/>
              <a:ea typeface="MS PGothic"/>
              <a:cs typeface="Times New Roman" panose="02020603050405020304" pitchFamily="18" charset="0"/>
            </a:endParaRPr>
          </a:p>
          <a:p>
            <a:pPr algn="ctr">
              <a:lnSpc>
                <a:spcPct val="100000"/>
              </a:lnSpc>
              <a:spcBef>
                <a:spcPts val="400"/>
              </a:spcBef>
            </a:pPr>
            <a:r>
              <a:rPr lang="en-US" sz="2000" spc="-1" dirty="0">
                <a:solidFill>
                  <a:srgbClr val="000000"/>
                </a:solidFill>
                <a:latin typeface="Times New Roman" panose="02020603050405020304" pitchFamily="18" charset="0"/>
                <a:ea typeface="MS PGothic"/>
                <a:cs typeface="Times New Roman" panose="02020603050405020304" pitchFamily="18" charset="0"/>
              </a:rPr>
              <a:t>Supervised By</a:t>
            </a:r>
          </a:p>
          <a:p>
            <a:pPr algn="ctr">
              <a:lnSpc>
                <a:spcPct val="100000"/>
              </a:lnSpc>
              <a:spcBef>
                <a:spcPts val="400"/>
              </a:spcBef>
            </a:pPr>
            <a:r>
              <a:rPr lang="en-US" sz="2000" spc="-1" dirty="0" err="1">
                <a:solidFill>
                  <a:srgbClr val="000000"/>
                </a:solidFill>
                <a:latin typeface="Times New Roman" panose="02020603050405020304" pitchFamily="18" charset="0"/>
                <a:ea typeface="MS PGothic"/>
                <a:cs typeface="Times New Roman" panose="02020603050405020304" pitchFamily="18" charset="0"/>
              </a:rPr>
              <a:t>Dr.Rajat</a:t>
            </a:r>
            <a:r>
              <a:rPr lang="en-US" sz="2000" spc="-1" dirty="0">
                <a:solidFill>
                  <a:srgbClr val="000000"/>
                </a:solidFill>
                <a:latin typeface="Times New Roman" panose="02020603050405020304" pitchFamily="18" charset="0"/>
                <a:ea typeface="MS PGothic"/>
                <a:cs typeface="Times New Roman" panose="02020603050405020304" pitchFamily="18" charset="0"/>
              </a:rPr>
              <a:t> Takkar</a:t>
            </a:r>
            <a:endParaRPr lang="en-US" sz="2000" spc="-1" dirty="0">
              <a:latin typeface="Times New Roman" panose="02020603050405020304" pitchFamily="18" charset="0"/>
              <a:ea typeface="MS PGothic"/>
              <a:cs typeface="Times New Roman" panose="02020603050405020304" pitchFamily="18" charset="0"/>
            </a:endParaRPr>
          </a:p>
          <a:p>
            <a:pPr algn="ctr">
              <a:lnSpc>
                <a:spcPct val="100000"/>
              </a:lnSpc>
              <a:spcBef>
                <a:spcPts val="400"/>
              </a:spcBef>
            </a:pPr>
            <a:endParaRPr lang="en-US" sz="2000" spc="-1" dirty="0">
              <a:latin typeface="Times New Roman" panose="02020603050405020304" pitchFamily="18" charset="0"/>
              <a:ea typeface="MS PGothic"/>
              <a:cs typeface="Times New Roman" panose="02020603050405020304" pitchFamily="18" charset="0"/>
            </a:endParaRPr>
          </a:p>
          <a:p>
            <a:pPr algn="ctr">
              <a:lnSpc>
                <a:spcPct val="100000"/>
              </a:lnSpc>
              <a:spcBef>
                <a:spcPts val="400"/>
              </a:spcBef>
            </a:pPr>
            <a:r>
              <a:rPr lang="en-US" sz="2400" spc="-1" dirty="0">
                <a:latin typeface="Times New Roman" panose="02020603050405020304" pitchFamily="18" charset="0"/>
                <a:ea typeface="MS PGothic"/>
                <a:cs typeface="Times New Roman" panose="02020603050405020304" pitchFamily="18" charset="0"/>
              </a:rPr>
              <a:t>Department of </a:t>
            </a:r>
            <a:r>
              <a:rPr lang="en-US" sz="2400" b="0" strike="noStrike" spc="-1" dirty="0">
                <a:latin typeface="Times New Roman" panose="02020603050405020304" pitchFamily="18" charset="0"/>
                <a:ea typeface="MS PGothic"/>
                <a:cs typeface="Times New Roman" panose="02020603050405020304" pitchFamily="18" charset="0"/>
              </a:rPr>
              <a:t>Computer Science and Engineering, </a:t>
            </a:r>
          </a:p>
          <a:p>
            <a:pPr algn="ctr">
              <a:lnSpc>
                <a:spcPct val="100000"/>
              </a:lnSpc>
              <a:spcBef>
                <a:spcPts val="400"/>
              </a:spcBef>
            </a:pPr>
            <a:r>
              <a:rPr lang="en-US" sz="2400" b="0" strike="noStrike" spc="-1" dirty="0">
                <a:latin typeface="Times New Roman" panose="02020603050405020304" pitchFamily="18" charset="0"/>
                <a:ea typeface="MS PGothic"/>
                <a:cs typeface="Times New Roman" panose="02020603050405020304" pitchFamily="18" charset="0"/>
              </a:rPr>
              <a:t>Chitkara University, Punjab</a:t>
            </a:r>
          </a:p>
          <a:p>
            <a:pPr algn="ctr">
              <a:lnSpc>
                <a:spcPct val="150000"/>
              </a:lnSpc>
              <a:spcBef>
                <a:spcPts val="400"/>
              </a:spcBef>
            </a:pPr>
            <a:endParaRPr lang="en-US" sz="20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641"/>
              </a:spcBef>
            </a:pPr>
            <a:endParaRPr lang="en-US" sz="2000" b="0" strike="noStrike" spc="-1" dirty="0">
              <a:solidFill>
                <a:srgbClr val="000000"/>
              </a:solidFill>
              <a:latin typeface="Calibri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6E33670A-62AF-71A3-03D9-BF706B10E7F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45210717"/>
              </p:ext>
            </p:extLst>
          </p:nvPr>
        </p:nvGraphicFramePr>
        <p:xfrm>
          <a:off x="2194560" y="2560320"/>
          <a:ext cx="5532120" cy="1933372"/>
        </p:xfrm>
        <a:graphic>
          <a:graphicData uri="http://schemas.openxmlformats.org/drawingml/2006/table">
            <a:tbl>
              <a:tblPr/>
              <a:tblGrid>
                <a:gridCol w="2766060">
                  <a:extLst>
                    <a:ext uri="{9D8B030D-6E8A-4147-A177-3AD203B41FA5}">
                      <a16:colId xmlns:a16="http://schemas.microsoft.com/office/drawing/2014/main" val="1873008601"/>
                    </a:ext>
                  </a:extLst>
                </a:gridCol>
                <a:gridCol w="2766060">
                  <a:extLst>
                    <a:ext uri="{9D8B030D-6E8A-4147-A177-3AD203B41FA5}">
                      <a16:colId xmlns:a16="http://schemas.microsoft.com/office/drawing/2014/main" val="1152090911"/>
                    </a:ext>
                  </a:extLst>
                </a:gridCol>
              </a:tblGrid>
              <a:tr h="180923"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N</a:t>
                      </a:r>
                      <a:r>
                        <a:rPr lang="en-IN" sz="11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ame</a:t>
                      </a:r>
                      <a:endParaRPr lang="en-IN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en-IN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EMP CODE/ROLL</a:t>
                      </a:r>
                      <a:endParaRPr lang="en-IN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84856524"/>
                  </a:ext>
                </a:extLst>
              </a:tr>
              <a:tr h="409683"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en-IN" sz="11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Shivansh Sood</a:t>
                      </a:r>
                      <a:endParaRPr lang="en-IN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en-IN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2210992328</a:t>
                      </a:r>
                      <a:endParaRPr lang="en-IN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99671905"/>
                  </a:ext>
                </a:extLst>
              </a:tr>
              <a:tr h="409683"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en-IN" sz="11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Sahil Arya</a:t>
                      </a:r>
                      <a:endParaRPr lang="en-IN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en-IN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2210990757</a:t>
                      </a:r>
                      <a:endParaRPr lang="en-IN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27474319"/>
                  </a:ext>
                </a:extLst>
              </a:tr>
              <a:tr h="409683"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en-IN" sz="11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Rishi Kumar</a:t>
                      </a:r>
                      <a:endParaRPr lang="en-IN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en-IN" sz="11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2210992161</a:t>
                      </a:r>
                      <a:endParaRPr lang="en-IN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75190385"/>
                  </a:ext>
                </a:extLst>
              </a:tr>
              <a:tr h="409683"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en-IN" sz="11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Dhruv Sood</a:t>
                      </a:r>
                      <a:endParaRPr lang="en-IN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en-IN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2210990279</a:t>
                      </a:r>
                      <a:endParaRPr lang="en-IN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0643157"/>
                  </a:ext>
                </a:extLst>
              </a:tr>
            </a:tbl>
          </a:graphicData>
        </a:graphic>
      </p:graphicFrame>
      <p:sp>
        <p:nvSpPr>
          <p:cNvPr id="3" name="Rectangle 1">
            <a:extLst>
              <a:ext uri="{FF2B5EF4-FFF2-40B4-BE49-F238E27FC236}">
                <a16:creationId xmlns:a16="http://schemas.microsoft.com/office/drawing/2014/main" id="{D398CCB5-A343-03FB-A2E9-CF1D5791C08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93925" y="2145200"/>
            <a:ext cx="223138" cy="83087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304704" rIns="91440" bIns="76176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1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endParaRPr kumimoji="0" lang="en-US" altLang="en-US" sz="12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TextShape 1"/>
          <p:cNvSpPr txBox="1"/>
          <p:nvPr/>
        </p:nvSpPr>
        <p:spPr>
          <a:xfrm>
            <a:off x="-1307592" y="71967"/>
            <a:ext cx="6019560" cy="837720"/>
          </a:xfrm>
          <a:prstGeom prst="rect">
            <a:avLst/>
          </a:prstGeom>
          <a:noFill/>
          <a:ln w="9360">
            <a:noFill/>
          </a:ln>
        </p:spPr>
        <p:txBody>
          <a:bodyPr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IN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Project Objectives</a:t>
            </a:r>
            <a:endParaRPr lang="en-US" sz="3000" b="0" strike="noStrike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0" name="TextShape 3"/>
          <p:cNvSpPr txBox="1"/>
          <p:nvPr/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>
            <a:noFill/>
          </a:ln>
        </p:spPr>
        <p:txBody>
          <a:bodyPr anchor="ctr">
            <a:noAutofit/>
          </a:bodyPr>
          <a:lstStyle/>
          <a:p>
            <a:pPr algn="r">
              <a:lnSpc>
                <a:spcPct val="100000"/>
              </a:lnSpc>
            </a:pPr>
            <a:fld id="{4D4FEEEE-7AC5-48A9-86F4-13448BE87B58}" type="slidenum">
              <a:rPr lang="en-US" sz="1200" b="1" strike="noStrike" spc="-1">
                <a:solidFill>
                  <a:srgbClr val="000000"/>
                </a:solidFill>
                <a:latin typeface="Calibri"/>
                <a:ea typeface="MS PGothic"/>
              </a:rPr>
              <a:pPr algn="r">
                <a:lnSpc>
                  <a:spcPct val="100000"/>
                </a:lnSpc>
              </a:pPr>
              <a:t>2</a:t>
            </a:fld>
            <a:endParaRPr lang="en-GB" sz="1200" b="0" strike="noStrike" spc="-1">
              <a:latin typeface="Times New Roman"/>
            </a:endParaRPr>
          </a:p>
        </p:txBody>
      </p:sp>
      <p:sp>
        <p:nvSpPr>
          <p:cNvPr id="5" name="TextShape 2"/>
          <p:cNvSpPr txBox="1"/>
          <p:nvPr/>
        </p:nvSpPr>
        <p:spPr>
          <a:xfrm>
            <a:off x="152640" y="817134"/>
            <a:ext cx="8838720" cy="4838571"/>
          </a:xfrm>
          <a:prstGeom prst="rect">
            <a:avLst/>
          </a:prstGeom>
          <a:noFill/>
          <a:ln w="9360">
            <a:noFill/>
          </a:ln>
        </p:spPr>
        <p:txBody>
          <a:bodyPr>
            <a:noAutofit/>
          </a:bodyPr>
          <a:lstStyle/>
          <a:p>
            <a:pPr>
              <a:lnSpc>
                <a:spcPct val="150000"/>
              </a:lnSpc>
              <a:spcBef>
                <a:spcPts val="400"/>
              </a:spcBef>
            </a:pPr>
            <a:endParaRPr lang="en-US" sz="2400" b="0" strike="noStrike" spc="-1" dirty="0">
              <a:solidFill>
                <a:srgbClr val="000000"/>
              </a:solidFill>
              <a:latin typeface="Calibri"/>
            </a:endParaRPr>
          </a:p>
          <a:p>
            <a:pPr marL="711200" lvl="0" indent="-571500">
              <a:lnSpc>
                <a:spcPct val="150000"/>
              </a:lnSpc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Automate e-commerce product cataloging using AI</a:t>
            </a:r>
          </a:p>
          <a:p>
            <a:pPr marL="711200" lvl="0" indent="-571500">
              <a:lnSpc>
                <a:spcPct val="150000"/>
              </a:lnSpc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Eliminate manual data entry for product titles, descriptions, categories, tags</a:t>
            </a:r>
          </a:p>
          <a:p>
            <a:pPr marL="711200" lvl="0" indent="-571500">
              <a:lnSpc>
                <a:spcPct val="150000"/>
              </a:lnSpc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Generate SEO-optimized catalog entries from product images and/or text descriptions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24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2400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50000"/>
              </a:lnSpc>
              <a:spcBef>
                <a:spcPts val="400"/>
              </a:spcBef>
            </a:pPr>
            <a:endParaRPr lang="en-US" sz="24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50000"/>
              </a:lnSpc>
              <a:spcBef>
                <a:spcPts val="400"/>
              </a:spcBef>
            </a:pPr>
            <a:endParaRPr lang="en-US" sz="24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50000"/>
              </a:lnSpc>
              <a:spcBef>
                <a:spcPts val="400"/>
              </a:spcBef>
            </a:pPr>
            <a:endParaRPr lang="en-US" sz="24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50000"/>
              </a:lnSpc>
              <a:spcBef>
                <a:spcPts val="400"/>
              </a:spcBef>
            </a:pPr>
            <a:endParaRPr lang="en-US" sz="24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24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24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24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24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2400" b="0" strike="noStrike" spc="-1" dirty="0">
              <a:solidFill>
                <a:srgbClr val="000000"/>
              </a:solidFill>
              <a:latin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76C6F98-3A1C-2C04-4615-5E1C8D5101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45785" y="4197174"/>
            <a:ext cx="4201230" cy="252402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C5D0A5-2181-C7D5-743A-4E7AE81BE7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6291072" cy="914040"/>
          </a:xfrm>
        </p:spPr>
        <p:txBody>
          <a:bodyPr/>
          <a:lstStyle/>
          <a:p>
            <a:r>
              <a:rPr lang="en-IN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Methodology / Approach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8518491-ECD8-125B-E223-6EBED5A717BF}"/>
              </a:ext>
            </a:extLst>
          </p:cNvPr>
          <p:cNvSpPr>
            <a:spLocks noGrp="1"/>
          </p:cNvSpPr>
          <p:nvPr>
            <p:ph type="subTitle"/>
          </p:nvPr>
        </p:nvSpPr>
        <p:spPr>
          <a:xfrm>
            <a:off x="118872" y="1014984"/>
            <a:ext cx="8001000" cy="3922776"/>
          </a:xfrm>
        </p:spPr>
        <p:txBody>
          <a:bodyPr/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User uploads a product image, text description, or both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Backend sends input to Google Gemini AI with engineered prompts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Gemini returns structured JSON: title, description, category, attributes, tags, keywords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Results stored in MySQL and displayed on the React frontend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Supports single item and batch cataloging</a:t>
            </a:r>
            <a:endParaRPr lang="en-IN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008225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59A87F-DB2F-BDF4-12F6-9A86E214C2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832676-3FC8-EFA6-663D-BDF285A069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6528816" cy="822960"/>
          </a:xfrm>
        </p:spPr>
        <p:txBody>
          <a:bodyPr/>
          <a:lstStyle/>
          <a:p>
            <a:r>
              <a:rPr lang="en-IN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Key Findings / Outcomes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007D39A-0654-0242-3F8B-A78E0F08B057}"/>
              </a:ext>
            </a:extLst>
          </p:cNvPr>
          <p:cNvSpPr txBox="1"/>
          <p:nvPr/>
        </p:nvSpPr>
        <p:spPr>
          <a:xfrm>
            <a:off x="109728" y="1014859"/>
            <a:ext cx="8426196" cy="33499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Reduced </a:t>
            </a:r>
            <a:r>
              <a:rPr lang="en-IN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cataloging</a:t>
            </a: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time from minutes to seconds per product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Consistent category and tag assignment across products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SEO-optimized titles and descriptions generated automatically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Confidence scoring on each AI-generated entry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Price positioning (budget / mid-range / premium) inferred from product features</a:t>
            </a:r>
          </a:p>
        </p:txBody>
      </p:sp>
    </p:spTree>
    <p:extLst>
      <p:ext uri="{BB962C8B-B14F-4D97-AF65-F5344CB8AC3E}">
        <p14:creationId xmlns:p14="http://schemas.microsoft.com/office/powerpoint/2010/main" val="8882687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0103CA-E113-1BCC-3F6E-18B7EAE611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87042810-3411-E05C-28C0-1AC6DFBB52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2728" y="914040"/>
            <a:ext cx="6382512" cy="285604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809AE26-BF12-E31B-5FE8-900F6A11B5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5607" y="3664261"/>
            <a:ext cx="6369634" cy="28825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587687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A24A0D-2514-C3F8-0F8F-6C4AA819CF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CB22622-9CE3-8EB7-3A95-BC27B55E40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7944" y="847837"/>
            <a:ext cx="4681728" cy="281642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6E8EEC6-2D1D-1050-C784-4A0E4B3737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1007" y="3856583"/>
            <a:ext cx="5155601" cy="25101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55888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F4C47E-515E-397D-18BA-7ED91DDA83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6656832" cy="914040"/>
          </a:xfrm>
        </p:spPr>
        <p:txBody>
          <a:bodyPr/>
          <a:lstStyle/>
          <a:p>
            <a:r>
              <a:rPr lang="en-IN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 &amp; Future Scope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1684E29-B800-9141-DB7C-6A5B87963494}"/>
              </a:ext>
            </a:extLst>
          </p:cNvPr>
          <p:cNvSpPr>
            <a:spLocks noGrp="1"/>
          </p:cNvSpPr>
          <p:nvPr>
            <p:ph type="subTitle"/>
          </p:nvPr>
        </p:nvSpPr>
        <p:spPr>
          <a:xfrm>
            <a:off x="109728" y="566568"/>
            <a:ext cx="8476128" cy="4667760"/>
          </a:xfrm>
        </p:spPr>
        <p:txBody>
          <a:bodyPr/>
          <a:lstStyle/>
          <a:p>
            <a:pPr>
              <a:lnSpc>
                <a:spcPct val="150000"/>
              </a:lnSpc>
            </a:pP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Conclusion: Successfully built an AI-powered </a:t>
            </a:r>
            <a:r>
              <a:rPr lang="en-IN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cataloging</a:t>
            </a: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tool that automates structured product data generation for e-commerce</a:t>
            </a:r>
          </a:p>
          <a:p>
            <a:pPr>
              <a:lnSpc>
                <a:spcPct val="150000"/>
              </a:lnSpc>
            </a:pP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Future Scope:</a:t>
            </a:r>
          </a:p>
          <a:p>
            <a:pPr marL="457200" lvl="1" indent="0">
              <a:lnSpc>
                <a:spcPct val="150000"/>
              </a:lnSpc>
              <a:buNone/>
            </a:pP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1.Support for more AI models (OpenAI, Claude)</a:t>
            </a:r>
          </a:p>
          <a:p>
            <a:pPr marL="457200" lvl="1" indent="0">
              <a:lnSpc>
                <a:spcPct val="150000"/>
              </a:lnSpc>
              <a:buNone/>
            </a:pP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2.Bulk CSV import/export</a:t>
            </a:r>
          </a:p>
          <a:p>
            <a:pPr marL="457200" lvl="1" indent="0">
              <a:lnSpc>
                <a:spcPct val="150000"/>
              </a:lnSpc>
              <a:buNone/>
            </a:pP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3.Multi-language </a:t>
            </a:r>
            <a:r>
              <a:rPr lang="en-IN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catalog</a:t>
            </a: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generation</a:t>
            </a:r>
          </a:p>
          <a:p>
            <a:pPr marL="457200" lvl="1" indent="0">
              <a:lnSpc>
                <a:spcPct val="150000"/>
              </a:lnSpc>
              <a:buNone/>
            </a:pP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4.Integration with platforms like Shopify / WooCommerce</a:t>
            </a:r>
          </a:p>
        </p:txBody>
      </p:sp>
    </p:spTree>
    <p:extLst>
      <p:ext uri="{BB962C8B-B14F-4D97-AF65-F5344CB8AC3E}">
        <p14:creationId xmlns:p14="http://schemas.microsoft.com/office/powerpoint/2010/main" val="113551271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TextShape 1"/>
          <p:cNvSpPr txBox="1"/>
          <p:nvPr/>
        </p:nvSpPr>
        <p:spPr>
          <a:xfrm>
            <a:off x="1297577" y="2821578"/>
            <a:ext cx="6705599" cy="1410788"/>
          </a:xfrm>
          <a:prstGeom prst="rect">
            <a:avLst/>
          </a:prstGeom>
          <a:noFill/>
          <a:ln w="9360">
            <a:noFill/>
          </a:ln>
        </p:spPr>
        <p:txBody>
          <a:bodyPr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" sz="5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Thank You</a:t>
            </a:r>
            <a:endParaRPr lang="en-US" sz="5400" b="0" strike="noStrike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0" name="TextShape 3"/>
          <p:cNvSpPr txBox="1"/>
          <p:nvPr/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>
            <a:noFill/>
          </a:ln>
        </p:spPr>
        <p:txBody>
          <a:bodyPr anchor="ctr">
            <a:noAutofit/>
          </a:bodyPr>
          <a:lstStyle/>
          <a:p>
            <a:pPr algn="r">
              <a:lnSpc>
                <a:spcPct val="100000"/>
              </a:lnSpc>
            </a:pPr>
            <a:fld id="{4D4FEEEE-7AC5-48A9-86F4-13448BE87B58}" type="slidenum">
              <a:rPr lang="en-US" sz="1200" b="1" strike="noStrike" spc="-1">
                <a:solidFill>
                  <a:srgbClr val="000000"/>
                </a:solidFill>
                <a:latin typeface="Calibri"/>
                <a:ea typeface="MS PGothic"/>
              </a:rPr>
              <a:pPr algn="r">
                <a:lnSpc>
                  <a:spcPct val="100000"/>
                </a:lnSpc>
              </a:pPr>
              <a:t>8</a:t>
            </a:fld>
            <a:endParaRPr lang="en-GB" sz="12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83447980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096F1BF43DDE004485E7A868D137D60A" ma:contentTypeVersion="0" ma:contentTypeDescription="Create a new document." ma:contentTypeScope="" ma:versionID="47fff7f98a9c49c088ba096c14cf4458">
  <xsd:schema xmlns:xsd="http://www.w3.org/2001/XMLSchema" xmlns:xs="http://www.w3.org/2001/XMLSchema" xmlns:p="http://schemas.microsoft.com/office/2006/metadata/properties" targetNamespace="http://schemas.microsoft.com/office/2006/metadata/properties" ma:root="true" ma:fieldsID="c05e9f2c4932a6a674126b9dde7716ea">
    <xsd:element name="properties">
      <xsd:complexType>
        <xsd:sequence>
          <xsd:element name="documentManagement">
            <xsd:complexType>
              <xsd:all/>
            </xsd:complexType>
          </xsd:element>
        </xsd:sequence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491DF113-39A2-46D5-BFDA-E63300A9ECA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  <ds:schemaRef ds:uri="http://schemas.microsoft.com/office/infopath/2007/PartnerControls"/>
  </ds:schemaRefs>
</ds:datastoreItem>
</file>

<file path=customXml/itemProps2.xml><?xml version="1.0" encoding="utf-8"?>
<ds:datastoreItem xmlns:ds="http://schemas.openxmlformats.org/officeDocument/2006/customXml" ds:itemID="{4A62A602-78C1-468C-BB25-57CD481DB741}">
  <ds:schemaRefs>
    <ds:schemaRef ds:uri="http://purl.org/dc/terms/"/>
    <ds:schemaRef ds:uri="http://www.w3.org/XML/1998/namespace"/>
    <ds:schemaRef ds:uri="http://purl.org/dc/dcmitype/"/>
    <ds:schemaRef ds:uri="http://schemas.microsoft.com/office/2006/documentManagement/types"/>
    <ds:schemaRef ds:uri="http://schemas.microsoft.com/office/2006/metadata/properties"/>
    <ds:schemaRef ds:uri="http://purl.org/dc/elements/1.1/"/>
    <ds:schemaRef ds:uri="http://schemas.microsoft.com/office/infopath/2007/PartnerControls"/>
    <ds:schemaRef ds:uri="http://schemas.openxmlformats.org/package/2006/metadata/core-properties"/>
  </ds:schemaRefs>
</ds:datastoreItem>
</file>

<file path=customXml/itemProps3.xml><?xml version="1.0" encoding="utf-8"?>
<ds:datastoreItem xmlns:ds="http://schemas.openxmlformats.org/officeDocument/2006/customXml" ds:itemID="{737ED6F0-5E4C-4CD0-9B68-9C53F925A6F7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34772</TotalTime>
  <Words>268</Words>
  <Application>Microsoft Office PowerPoint</Application>
  <PresentationFormat>On-screen Show (4:3)</PresentationFormat>
  <Paragraphs>63</Paragraphs>
  <Slides>8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Arial</vt:lpstr>
      <vt:lpstr>Calibri</vt:lpstr>
      <vt:lpstr>Times New Roman</vt:lpstr>
      <vt:lpstr>Office Theme</vt:lpstr>
      <vt:lpstr>PowerPoint Presentation</vt:lpstr>
      <vt:lpstr>PowerPoint Presentation</vt:lpstr>
      <vt:lpstr>Methodology / Approach</vt:lpstr>
      <vt:lpstr> Key Findings / Outcomes</vt:lpstr>
      <vt:lpstr>PowerPoint Presentation</vt:lpstr>
      <vt:lpstr>PowerPoint Presentation</vt:lpstr>
      <vt:lpstr>Conclusion &amp; Future Scope</vt:lpstr>
      <vt:lpstr>PowerPoint Presentation</vt:lpstr>
    </vt:vector>
  </TitlesOfParts>
  <Company>CCC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ABC</dc:creator>
  <cp:lastModifiedBy>Sahil Arya</cp:lastModifiedBy>
  <cp:revision>2304</cp:revision>
  <dcterms:created xsi:type="dcterms:W3CDTF">2010-04-09T07:36:15Z</dcterms:created>
  <dcterms:modified xsi:type="dcterms:W3CDTF">2026-05-21T03:42:11Z</dcterms:modified>
  <dc:language>en-GB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ppVersion">
    <vt:lpwstr>16.0000</vt:lpwstr>
  </property>
  <property fmtid="{D5CDD505-2E9C-101B-9397-08002B2CF9AE}" pid="3" name="Company">
    <vt:lpwstr>CCC</vt:lpwstr>
  </property>
  <property fmtid="{D5CDD505-2E9C-101B-9397-08002B2CF9AE}" pid="4" name="HiddenSlides">
    <vt:i4>0</vt:i4>
  </property>
  <property fmtid="{D5CDD505-2E9C-101B-9397-08002B2CF9AE}" pid="5" name="HyperlinksChanged">
    <vt:bool>false</vt:bool>
  </property>
  <property fmtid="{D5CDD505-2E9C-101B-9397-08002B2CF9AE}" pid="6" name="LinksUpToDate">
    <vt:bool>false</vt:bool>
  </property>
  <property fmtid="{D5CDD505-2E9C-101B-9397-08002B2CF9AE}" pid="7" name="MMClips">
    <vt:i4>0</vt:i4>
  </property>
  <property fmtid="{D5CDD505-2E9C-101B-9397-08002B2CF9AE}" pid="8" name="Notes">
    <vt:i4>0</vt:i4>
  </property>
  <property fmtid="{D5CDD505-2E9C-101B-9397-08002B2CF9AE}" pid="9" name="PresentationFormat">
    <vt:lpwstr>On-screen Show (4:3)</vt:lpwstr>
  </property>
  <property fmtid="{D5CDD505-2E9C-101B-9397-08002B2CF9AE}" pid="10" name="ScaleCrop">
    <vt:bool>false</vt:bool>
  </property>
  <property fmtid="{D5CDD505-2E9C-101B-9397-08002B2CF9AE}" pid="11" name="ShareDoc">
    <vt:bool>false</vt:bool>
  </property>
  <property fmtid="{D5CDD505-2E9C-101B-9397-08002B2CF9AE}" pid="12" name="Slides">
    <vt:i4>37</vt:i4>
  </property>
  <property fmtid="{D5CDD505-2E9C-101B-9397-08002B2CF9AE}" pid="13" name="ContentTypeId">
    <vt:lpwstr>0x010100096F1BF43DDE004485E7A868D137D60A</vt:lpwstr>
  </property>
</Properties>
</file>